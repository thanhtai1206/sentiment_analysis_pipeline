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8" r:id="rId6"/>
    <p:sldId id="259" r:id="rId7"/>
    <p:sldId id="260" r:id="rId8"/>
    <p:sldId id="261" r:id="rId9"/>
    <p:sldId id="264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64592" cy="50520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2E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DÀN Ý THUYẾT TRÌNH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Nội dung trình bày — Nhóm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A9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sánh NLP truyền thống &amp; PhoBERT | Phân tích cảm xúc phản hồi sinh viên </a:t>
            </a:r>
            <a:r>
              <a:rPr lang="en-US" sz="1000" dirty="0" err="1">
                <a:solidFill>
                  <a:srgbClr val="14A9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tiếng</a:t>
            </a:r>
            <a:r>
              <a:rPr lang="en-US" sz="1000" dirty="0">
                <a:solidFill>
                  <a:srgbClr val="14A9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vi-VN" sz="1000" dirty="0">
                <a:solidFill>
                  <a:srgbClr val="14A9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Việt</a:t>
            </a:r>
            <a:r>
              <a:rPr lang="en-US" sz="1000" dirty="0">
                <a:solidFill>
                  <a:srgbClr val="14A9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366141"/>
            <a:ext cx="4206240" cy="694944"/>
          </a:xfrm>
          <a:prstGeom prst="rect">
            <a:avLst/>
          </a:prstGeom>
          <a:solidFill>
            <a:srgbClr val="1E3558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71600"/>
            <a:ext cx="50292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50292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568196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Tên đề tài &amp; Mục tiêu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4206240" cy="694944"/>
          </a:xfrm>
          <a:prstGeom prst="rect">
            <a:avLst/>
          </a:prstGeom>
          <a:solidFill>
            <a:srgbClr val="1E3558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76272"/>
            <a:ext cx="50292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76272"/>
            <a:ext cx="50292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368296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 &amp; Pipeline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980944"/>
            <a:ext cx="4206240" cy="694944"/>
          </a:xfrm>
          <a:prstGeom prst="rect">
            <a:avLst/>
          </a:prstGeom>
          <a:solidFill>
            <a:srgbClr val="1E3558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80944"/>
            <a:ext cx="50292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80944"/>
            <a:ext cx="50292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172968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&amp; Phương pháp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785616"/>
            <a:ext cx="4206240" cy="694944"/>
          </a:xfrm>
          <a:prstGeom prst="rect">
            <a:avLst/>
          </a:prstGeom>
          <a:solidFill>
            <a:srgbClr val="1E3558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785616"/>
            <a:ext cx="50292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85616"/>
            <a:ext cx="50292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3986784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quả so sánh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1371600"/>
            <a:ext cx="4206240" cy="694944"/>
          </a:xfrm>
          <a:prstGeom prst="rect">
            <a:avLst/>
          </a:prstGeom>
          <a:solidFill>
            <a:srgbClr val="1E3558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371600"/>
            <a:ext cx="50292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371600"/>
            <a:ext cx="50292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49240" y="1554480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lỗi &amp; Hạn chế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2176272"/>
            <a:ext cx="4206240" cy="694944"/>
          </a:xfrm>
          <a:prstGeom prst="rect">
            <a:avLst/>
          </a:prstGeom>
          <a:solidFill>
            <a:srgbClr val="1E3558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176272"/>
            <a:ext cx="50292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176272"/>
            <a:ext cx="50292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49240" y="2368296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sản phẩm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54880" y="2980944"/>
            <a:ext cx="4206240" cy="694944"/>
          </a:xfrm>
          <a:prstGeom prst="rect">
            <a:avLst/>
          </a:prstGeom>
          <a:solidFill>
            <a:srgbClr val="1E3558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980944"/>
            <a:ext cx="50292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980944"/>
            <a:ext cx="50292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349240" y="3172968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luận &amp; Hướng phát triển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Nhóm 4 — Trường Đại học Sài Gòn | Khoa CNTT | Tháng 6/2026  ·  Thời lượng: 5–7 phút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331720"/>
            <a:ext cx="8979408" cy="36576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14A9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TRƯỜNG ĐẠI HỌC SÀI GÒN  |  KHOA CÔNG NGHỆ THÔNG TIN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772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sánh các phương pháp NLP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32E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truyền thống và PhoBERT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77724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F0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trong Phân tích Cảm xúc Phản hồi Sinh viên Tiếng Việt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109728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697480"/>
            <a:ext cx="4937760" cy="1664208"/>
          </a:xfrm>
          <a:prstGeom prst="rect">
            <a:avLst/>
          </a:prstGeom>
          <a:solidFill>
            <a:srgbClr val="1E355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88920"/>
            <a:ext cx="4709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2E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THÀNH VIÊN NHÓM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072384"/>
            <a:ext cx="47091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Tuấn Kiệt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—  Thu thập &amp; tiền xử lý dữ liệu
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Thành Tài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—  Xây dựng &amp; huấn luyện mô hình
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Minh Huy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—  Phân tích kết quả &amp; báo cáo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2697480"/>
            <a:ext cx="3291840" cy="1664208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2788920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MỤC TIÊU BÀI TOÁN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87568" y="3072384"/>
            <a:ext cx="30632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100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loại cảm xúc 3 lớp
</a:t>
            </a:r>
            <a:r>
              <a:rPr lang="en-US" sz="1000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Tích cực / Tiêu cực / Trung tính
</a:t>
            </a:r>
            <a:r>
              <a:rPr lang="en-US" sz="11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100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sánh TF-IDF+SVM vs PhoBERT
</a:t>
            </a:r>
            <a:r>
              <a:rPr lang="en-US" sz="11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100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liệu: UIT-VSFC (16K câu)
</a:t>
            </a:r>
            <a:r>
              <a:rPr lang="en-US" sz="11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100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Metric: Macro-F1 (chính)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 · NHÃN · PIPELINE XỬ LÝ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2E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31520"/>
            <a:ext cx="91440" cy="1371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9552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BỘ DỮ LIỆU: UIT-VSFC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3657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16,000+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câu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phản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hồi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sinh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viên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tiếng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Việt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• Train: 11,426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mẫu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Test: 3,166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mẫu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•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Nguồn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UIT – ĐHQG TP.HCM (KSE 2018)
•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Nhãn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50" dirty="0" err="1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kép</a:t>
            </a:r>
            <a:r>
              <a:rPr lang="en-US" sz="105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Sentiment + Topic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725378"/>
            <a:ext cx="4297680" cy="14508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731520"/>
            <a:ext cx="91440" cy="14356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795528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BỐ NHÃN &amp; MẤT CÂN BẰNG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1408176" cy="2011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07899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Tiêu cực (0)  44%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1399032"/>
            <a:ext cx="1600200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380744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Tích cực (2)  50%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1700784"/>
            <a:ext cx="192024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38344" y="1682496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Trung tính (1)  6%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984248"/>
            <a:ext cx="3931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Nhãn 1 chỉ chiếm ~4.3% — gây mất cân bằng nghiêm trọng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21284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XỬ LÝ DỮ LIỆU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578608"/>
            <a:ext cx="1325880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2615184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2880360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Thu thập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310128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UIT-VSFC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files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00200" y="3200400"/>
            <a:ext cx="155448" cy="0"/>
          </a:xfrm>
          <a:prstGeom prst="line">
            <a:avLst/>
          </a:prstGeom>
          <a:noFill/>
          <a:ln w="25400">
            <a:solidFill>
              <a:srgbClr val="1A2B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55648" y="2578608"/>
            <a:ext cx="1325880" cy="12344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801368" y="2615184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55648" y="2880360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Làm sạch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Văn bản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55648" y="3310128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Xóa ký tự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Đặc biệt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81528" y="3200400"/>
            <a:ext cx="155448" cy="0"/>
          </a:xfrm>
          <a:prstGeom prst="line">
            <a:avLst/>
          </a:prstGeom>
          <a:noFill/>
          <a:ln w="25400">
            <a:solidFill>
              <a:srgbClr val="1A2B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6976" y="2578608"/>
            <a:ext cx="1325880" cy="1234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82696" y="2615184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36976" y="2880360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Chuẩn hóa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Nhãn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36976" y="3310128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0/1/2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62856" y="3200400"/>
            <a:ext cx="155448" cy="0"/>
          </a:xfrm>
          <a:prstGeom prst="line">
            <a:avLst/>
          </a:prstGeom>
          <a:noFill/>
          <a:ln w="25400">
            <a:solidFill>
              <a:srgbClr val="1A2B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18304" y="2578608"/>
            <a:ext cx="1325880" cy="1234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64024" y="2615184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18304" y="2880360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Tách từ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Tiếng Việt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18304" y="3310128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Underthesea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VnCoreNLP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44184" y="3200400"/>
            <a:ext cx="155448" cy="0"/>
          </a:xfrm>
          <a:prstGeom prst="line">
            <a:avLst/>
          </a:prstGeom>
          <a:noFill/>
          <a:ln w="25400">
            <a:solidFill>
              <a:srgbClr val="1A2B4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9632" y="2578608"/>
            <a:ext cx="1325880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45352" y="2615184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99632" y="2880360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hóa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99632" y="3310128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TF-IDF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BPE Token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525512" y="3200400"/>
            <a:ext cx="155448" cy="0"/>
          </a:xfrm>
          <a:prstGeom prst="line">
            <a:avLst/>
          </a:prstGeom>
          <a:noFill/>
          <a:ln w="25400">
            <a:solidFill>
              <a:srgbClr val="1A2B4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0" y="2578608"/>
            <a:ext cx="1325880" cy="1234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726680" y="2615184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680960" y="2880360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Đầu vào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 hình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80960" y="3310128"/>
            <a:ext cx="1325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SVM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PhoBERT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3950208"/>
            <a:ext cx="859536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95020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Thước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đo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chính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Macro-F1 Score —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đánh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giá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công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bằng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trên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cả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3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lớp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(bao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gồm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lớp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Trung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tính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vi-VN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là lớp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thiểu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số</a:t>
            </a:r>
            <a:r>
              <a:rPr lang="en-US" sz="1100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38405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VÀ PHƯƠNG PHÁP CHÍNH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E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704088"/>
            <a:ext cx="4160520" cy="3189427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04088"/>
            <a:ext cx="416052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04088"/>
            <a:ext cx="3977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— TF-IDF + LinearSVC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1088136"/>
            <a:ext cx="4160520" cy="310896"/>
          </a:xfrm>
          <a:prstGeom prst="rect">
            <a:avLst/>
          </a:prstGeom>
          <a:solidFill>
            <a:srgbClr val="F4F9FF"/>
          </a:solidFill>
          <a:ln w="12700">
            <a:solidFill>
              <a:srgbClr val="F4F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9728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Tuần 2 — Mức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109728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TF-IDF ngram=(1,2) + LinearSVC mặc định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399032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08176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1408176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  (nhưng Recall nhãn 1 chỉ 17%)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709928"/>
            <a:ext cx="4160520" cy="310896"/>
          </a:xfrm>
          <a:prstGeom prst="rect">
            <a:avLst/>
          </a:prstGeom>
          <a:solidFill>
            <a:srgbClr val="F4F9FF"/>
          </a:solidFill>
          <a:ln w="12700">
            <a:solidFill>
              <a:srgbClr val="F4F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19072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Macro-F1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83080" y="1719072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0.69  — điểm neo cơ sở chính thức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020824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2996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nhãn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83080" y="202996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0.26  ⚠  điểm yếu cốt lõi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331720"/>
            <a:ext cx="4160520" cy="310896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331720"/>
            <a:ext cx="41605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40864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Tuần 3 — Mức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2340864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Thực nghiệm 4 giải pháp can thiệp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642616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65176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LinearSVC + CW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83080" y="265176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class_weight='balanced' → MF1=0.74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953512"/>
            <a:ext cx="4160520" cy="310896"/>
          </a:xfrm>
          <a:prstGeom prst="rect">
            <a:avLst/>
          </a:prstGeom>
          <a:solidFill>
            <a:srgbClr val="F4F9FF"/>
          </a:solidFill>
          <a:ln w="12700">
            <a:solidFill>
              <a:srgbClr val="F4F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62656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 / SMOTE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3080" y="2962656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 tốt nhất → F1 nhãn1=0.40, MF1=0.74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264408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273552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Trần hiệu năng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3273552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TF-IDF Bag-of-Words bất lực ngữ cảnh sâu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575304"/>
            <a:ext cx="4160520" cy="310896"/>
          </a:xfrm>
          <a:prstGeom prst="rect">
            <a:avLst/>
          </a:prstGeom>
          <a:solidFill>
            <a:srgbClr val="F4F9FF"/>
          </a:solidFill>
          <a:ln w="12700">
            <a:solidFill>
              <a:srgbClr val="F4F9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58444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Giới hạn cốt lõi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783080" y="358444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Phủ định kép, câu nước đôi, sắc thái nói giảm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704088"/>
            <a:ext cx="4160520" cy="3189427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704088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704088"/>
            <a:ext cx="3977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PHƯƠNG PHÁP CHÍNH — PhoBERT + Tuning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54880" y="1088136"/>
            <a:ext cx="4160520" cy="310896"/>
          </a:xfrm>
          <a:prstGeom prst="rect">
            <a:avLst/>
          </a:prstGeom>
          <a:solidFill>
            <a:srgbClr val="F0FAF8"/>
          </a:solidFill>
          <a:ln w="12700">
            <a:solidFill>
              <a:srgbClr val="F0FA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109728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Kiến trúc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91072" y="109728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vinai/phobert-base (Transformer 12 lớp)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1399032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1408176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91072" y="1408176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Byte-Pair Encoding (BPE) — subword tự động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1709928"/>
            <a:ext cx="4160520" cy="310896"/>
          </a:xfrm>
          <a:prstGeom prst="rect">
            <a:avLst/>
          </a:prstGeom>
          <a:solidFill>
            <a:srgbClr val="F0FAF8"/>
          </a:solidFill>
          <a:ln w="12700">
            <a:solidFill>
              <a:srgbClr val="F0FA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1719072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91072" y="1719072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AdamW lr=2e-5, 4 Epochs, Warmup 10%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2020824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202996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Weights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91072" y="202996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[0.7229, 7.7569, 0.6720] — phạt nhãn1 ×7.76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2331720"/>
            <a:ext cx="4160520" cy="310896"/>
          </a:xfrm>
          <a:prstGeom prst="rect">
            <a:avLst/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340864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quả tuần 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91072" y="2340864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Acc=93%, MF1=0.83, F1 nhãn1=0.59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2642616"/>
            <a:ext cx="4160520" cy="310896"/>
          </a:xfrm>
          <a:prstGeom prst="rect">
            <a:avLst/>
          </a:prstGeom>
          <a:solidFill>
            <a:srgbClr val="FEF9E7"/>
          </a:solidFill>
          <a:ln w="12700">
            <a:solidFill>
              <a:srgbClr val="FEF9E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2642616"/>
            <a:ext cx="416052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265176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</a:t>
            </a:r>
            <a:r>
              <a:rPr lang="en-US" sz="900" b="1" dirty="0" err="1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thiệp</a:t>
            </a:r>
            <a:r>
              <a:rPr lang="en-US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vi-VN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tuần 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91072" y="265176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Tuning — Grid scan 0.20→0.60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953512"/>
            <a:ext cx="4160520" cy="310896"/>
          </a:xfrm>
          <a:prstGeom prst="rect">
            <a:avLst/>
          </a:prstGeom>
          <a:solidFill>
            <a:srgbClr val="F0FAF8"/>
          </a:solidFill>
          <a:ln w="12700">
            <a:solidFill>
              <a:srgbClr val="F0FA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2962656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Ngưỡng tối ưu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91072" y="2962656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best_threshold = 0.24 cho nhãn Trung tính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54880" y="3264408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3273552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Cơ chế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91072" y="3273552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P(nhãn1) ≥ 0.24 → gán thẳng nhãn 1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54880" y="3575304"/>
            <a:ext cx="4160520" cy="310896"/>
          </a:xfrm>
          <a:prstGeom prst="rect">
            <a:avLst/>
          </a:prstGeom>
          <a:solidFill>
            <a:srgbClr val="F0FAF8"/>
          </a:solidFill>
          <a:ln w="12700">
            <a:solidFill>
              <a:srgbClr val="F0FAF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358444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Tuần 5 tối hậu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91072" y="358444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Acc=91.76%, MF1=0.8123, Recall=0.8411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28600" y="4434840"/>
            <a:ext cx="8686800" cy="438912"/>
          </a:xfrm>
          <a:prstGeom prst="rect">
            <a:avLst/>
          </a:prstGeom>
          <a:solidFill>
            <a:srgbClr val="FEF9E7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" y="4434840"/>
            <a:ext cx="8412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42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 Tuần 5 — Đột phá kỹ thuật: Hạ ngưỡng xác suất nhãn Trung tính từ 0.50 (argmax mặc định) xuống 0.24 → giải cứu 110/167 mẫu (Recall 65.87%), cải thiện Macro-Recall lên 84.11%.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38405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QUẢ SO SÁNH CHÍNH THỨC — 4 MỨC MÔ HÌNH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E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667512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BẢNG KẾT QUẢ CHÍNH THỨC — TEST SET CỐ ĐỊNH (3,166 MẪU)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228600" y="932688"/>
          <a:ext cx="8686800" cy="1997964"/>
        </p:xfrm>
        <a:graphic>
          <a:graphicData uri="http://schemas.openxmlformats.org/drawingml/2006/table">
            <a:tbl>
              <a:tblPr/>
              <a:tblGrid>
                <a:gridCol w="1447800"/>
                <a:gridCol w="1447800"/>
                <a:gridCol w="1447800"/>
                <a:gridCol w="1447800"/>
                <a:gridCol w="1447800"/>
                <a:gridCol w="1447800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Mức / Mô hình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Macro-F1 ★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Macro-Prec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Macro-Recall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 Nhãn 1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Mức 1: LinearSVC Baseline (T2)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0.69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0.78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0.26 ⚠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Mức 2: LinearSVC + SMOTE (T3)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0.74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0.75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0.40 ↑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Mức 3: PhoBERT Fine-tuning (T4)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0.83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0.82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0.83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0.59 ↑↑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Mức 4: PhoBERT + Threshold 0.24 (T5)  </a:t>
                      </a:r>
                      <a:endParaRPr lang="en-US" sz="95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★  TỐT NHẤT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91.76%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0.8123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0.7934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0.8411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0.5528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28600" y="3127248"/>
            <a:ext cx="2011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3127248"/>
            <a:ext cx="20116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" y="3145536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+12%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28600" y="3712464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Macro-F1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T2→T5 (+12.23pp)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04872" y="3127248"/>
            <a:ext cx="2011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980B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04872" y="3127248"/>
            <a:ext cx="201168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04872" y="3145536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404872" y="3712464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Macro-Recall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Tốt nhất toàn dự án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81144" y="3127248"/>
            <a:ext cx="2011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81144" y="3127248"/>
            <a:ext cx="201168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81144" y="3145536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0.55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4581144" y="3712464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Nhãn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(0.26 → 0.5528)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757416" y="3127248"/>
            <a:ext cx="2011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0A5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57416" y="3127248"/>
            <a:ext cx="20116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57416" y="3145536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66%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6757416" y="3712464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 Nhãn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(110/167 mẫu)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8600" y="4297680"/>
            <a:ext cx="868680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4048" y="42976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 Trade-off có chủ ý: Accuracy giảm 93%→91.76% (do nới rộng biên nhãn 1) nhưng Macro-Recall tăng lên 84.11% — phản ánh hệ thống công bằng hơn, phù hợp bài toán mất cân bằng.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38405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LỖI CHUYÊN SÂU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E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667512"/>
            <a:ext cx="5212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BẢNG PHÂN TÍCH LỖI 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228600" y="932688"/>
          <a:ext cx="5212080" cy="1618488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Nhóm lỗi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Số mẫu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Nguyên nhân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Hướng sửa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FN: Nhãn 1 → Tiêu cực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Phủ định tiếng Việt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Augment nhãn 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FN: Nhãn 1 → Tích cực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Từ khen đan xen mô tả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Fine-tune thêm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FP: Tiêu cực → Nhãn 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56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Cận biên nới ngưỡng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Threshold PR-Curve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FP: Tích cực → Nhãn 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Câu khen giảm nhẹ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Threshold PR-Curve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Nhầm 0↔2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Câu ngữ cảnh phức tạp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PhoBERT-large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651760"/>
            <a:ext cx="5212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 CHÍNH THỨC — MỨC 4 (T5)</a:t>
            </a:r>
            <a:endParaRPr lang="en-US" sz="10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228600" y="2916936"/>
          <a:ext cx="5212080" cy="1280160"/>
        </p:xfrm>
        <a:graphic>
          <a:graphicData uri="http://schemas.openxmlformats.org/drawingml/2006/table">
            <a:tbl>
              <a:tblPr/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True \ Pred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 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 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 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Tổng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 0 (Tiêu cực)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1,322 ✓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56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1,409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 1 (Trung tính)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110 ✓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167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 2 (Tích cực)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1,473 ✓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1,590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Tổng dự đoán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1,397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231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1,538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3,166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715000" y="667512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HẠN CHẾ KỸ THUẬT CÒN TỒN TẠI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715000" y="932688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42432" y="950976"/>
            <a:ext cx="347472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📏</a:t>
            </a:r>
            <a:endParaRPr lang="en-US" sz="1400" dirty="0"/>
          </a:p>
        </p:txBody>
      </p:sp>
      <p:sp>
        <p:nvSpPr>
          <p:cNvPr id="9" name="Text 9"/>
          <p:cNvSpPr/>
          <p:nvPr/>
        </p:nvSpPr>
        <p:spPr>
          <a:xfrm>
            <a:off x="6126480" y="960120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Giới hạn 256 tokens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26480" y="118872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Câu dài bị cắt → mất ngữ cảnh cuối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715000" y="1591056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42432" y="1609344"/>
            <a:ext cx="347472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😏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126480" y="1618488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Noise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126480" y="1847088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Câu nước đôi gán nhãn chủ quan gây nhiễu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715000" y="2249424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42432" y="2267712"/>
            <a:ext cx="347472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⚖️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126480" y="2276856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 Prec↔Recall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126480" y="2505456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Nới ngưỡng 0.24 làm Macro-Prec=79.34%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715000" y="2907792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42432" y="2926080"/>
            <a:ext cx="347472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126480" y="2935224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 phí GPU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126480" y="316382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~25 phút T4, không chạy local được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715000" y="3566160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742432" y="3584448"/>
            <a:ext cx="347472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6126480" y="3593592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Domain-specific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126480" y="3822192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Giáo dục → E-commerce cần fine-tune thêm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28600" y="4297680"/>
            <a:ext cx="8686800" cy="502920"/>
          </a:xfrm>
          <a:prstGeom prst="rect">
            <a:avLst/>
          </a:prstGeom>
          <a:solidFill>
            <a:srgbClr val="FEF9E7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84048" y="42976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42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Bản chất trade-off: Hạ ngưỡng 0.24 kéo 121 mẫu cận biên vào lớp 1 (FP), nhưng giải cứu được 110/167 mẫu thực sự là Trung tính (Recall 65.87%). Macro-Recall = 84.11% — cao nhất toàn dự án.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SẢN PHẨM THỬ NGHIỆM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2E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0408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🖥  GIAO DIỆN GRADIO — PHÂN TÍCH CẢM XÚC THỜI GIAN THỰC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846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4846320" cy="3200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24128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● ●  Sentiment Analyzer — PhoBERT Vietnamese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Nhập câu văn phản hồi: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4553712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43708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"giảng dạy nhiệt tình, liên hệ thực tế khá nhiều, tương tác tốt."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2402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402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vi-V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🔍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tích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cảm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xúc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651759"/>
            <a:ext cx="4553712" cy="1408449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15" name="Text 13"/>
          <p:cNvSpPr/>
          <p:nvPr/>
        </p:nvSpPr>
        <p:spPr>
          <a:xfrm>
            <a:off x="502920" y="2679192"/>
            <a:ext cx="43708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Nhãn dự đoán: TÍCH CỰC (2)  —  Độ tin cậy: 99.29%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944368"/>
            <a:ext cx="4370832" cy="10424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vi-V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🔴</a:t>
            </a:r>
            <a:r>
              <a:rPr lang="en-US" sz="1200" dirty="0" err="1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Tiêu</a:t>
            </a:r>
            <a:r>
              <a:rPr lang="en-US" sz="12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200" dirty="0" err="1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cực</a:t>
            </a:r>
            <a:r>
              <a:rPr lang="en-US" sz="12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0.3%  </a:t>
            </a:r>
            <a:endParaRPr lang="en-US" sz="1200" dirty="0">
              <a:solidFill>
                <a:srgbClr val="27AE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vi-V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🟡</a:t>
            </a:r>
            <a:r>
              <a:rPr lang="en-US" sz="1200" dirty="0" err="1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Trung</a:t>
            </a:r>
            <a:r>
              <a:rPr lang="en-US" sz="12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tính: 0.41%  </a:t>
            </a:r>
            <a:endParaRPr lang="en-US" sz="1200" dirty="0">
              <a:solidFill>
                <a:srgbClr val="27AE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vi-V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🟢</a:t>
            </a:r>
            <a:r>
              <a:rPr lang="en-US" sz="1200" dirty="0" err="1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Tích</a:t>
            </a:r>
            <a:r>
              <a:rPr lang="en-US" sz="12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cực: 99.29%    </a:t>
            </a:r>
            <a:endParaRPr lang="en-US" sz="1200" dirty="0">
              <a:solidFill>
                <a:srgbClr val="27AE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vi-V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🔬</a:t>
            </a:r>
            <a:r>
              <a:rPr lang="en-US" sz="12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Tokens: 256/256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704088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VÍ DỤ THỬ NGHIỆM TRỰC TIẾP</a:t>
            </a:r>
            <a:endParaRPr lang="en-US" sz="1100" dirty="0"/>
          </a:p>
        </p:txBody>
      </p:sp>
      <p:sp>
        <p:nvSpPr>
          <p:cNvPr id="18" name="Shape 16"/>
          <p:cNvSpPr/>
          <p:nvPr>
            <p:custDataLst>
              <p:tags r:id="rId1"/>
            </p:custDataLst>
          </p:nvPr>
        </p:nvSpPr>
        <p:spPr>
          <a:xfrm>
            <a:off x="5394960" y="1024763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altLang="en-US"/>
          </a:p>
        </p:txBody>
      </p:sp>
      <p:sp>
        <p:nvSpPr>
          <p:cNvPr id="19" name="Text 17"/>
          <p:cNvSpPr/>
          <p:nvPr>
            <p:custDataLst>
              <p:tags r:id="rId2"/>
            </p:custDataLst>
          </p:nvPr>
        </p:nvSpPr>
        <p:spPr>
          <a:xfrm>
            <a:off x="5532120" y="1060704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TÍCH CỰC</a:t>
            </a:r>
            <a:endParaRPr lang="en-US" sz="1100" dirty="0"/>
          </a:p>
        </p:txBody>
      </p:sp>
      <p:sp>
        <p:nvSpPr>
          <p:cNvPr id="20" name="Text 18"/>
          <p:cNvSpPr/>
          <p:nvPr>
            <p:custDataLst>
              <p:tags r:id="rId3"/>
            </p:custDataLst>
          </p:nvPr>
        </p:nvSpPr>
        <p:spPr>
          <a:xfrm>
            <a:off x="7772400" y="1060704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 cậy: 99.4%</a:t>
            </a:r>
            <a:endParaRPr lang="en-US" sz="1000" dirty="0"/>
          </a:p>
        </p:txBody>
      </p:sp>
      <p:sp>
        <p:nvSpPr>
          <p:cNvPr id="21" name="Text 19"/>
          <p:cNvSpPr/>
          <p:nvPr>
            <p:custDataLst>
              <p:tags r:id="rId4"/>
            </p:custDataLst>
          </p:nvPr>
        </p:nvSpPr>
        <p:spPr>
          <a:xfrm>
            <a:off x="5532120" y="1335024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"giảng dạy nhiệt tình, liên hệ thực tế, tương tác tốt"</a:t>
            </a:r>
            <a:endParaRPr lang="en-US" sz="950" dirty="0"/>
          </a:p>
        </p:txBody>
      </p:sp>
      <p:sp>
        <p:nvSpPr>
          <p:cNvPr id="22" name="Shape 20"/>
          <p:cNvSpPr/>
          <p:nvPr>
            <p:custDataLst>
              <p:tags r:id="rId5"/>
            </p:custDataLst>
          </p:nvPr>
        </p:nvSpPr>
        <p:spPr>
          <a:xfrm>
            <a:off x="5394960" y="2048256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>
            <p:custDataLst>
              <p:tags r:id="rId6"/>
            </p:custDataLst>
          </p:nvPr>
        </p:nvSpPr>
        <p:spPr>
          <a:xfrm>
            <a:off x="5532120" y="2084832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⚪ TRUNG TÍNH</a:t>
            </a:r>
            <a:endParaRPr lang="en-US" sz="1100" dirty="0"/>
          </a:p>
        </p:txBody>
      </p:sp>
      <p:sp>
        <p:nvSpPr>
          <p:cNvPr id="24" name="Text 22"/>
          <p:cNvSpPr/>
          <p:nvPr>
            <p:custDataLst>
              <p:tags r:id="rId7"/>
            </p:custDataLst>
          </p:nvPr>
        </p:nvSpPr>
        <p:spPr>
          <a:xfrm>
            <a:off x="7772400" y="2084832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 cậy: 89.51%</a:t>
            </a:r>
            <a:endParaRPr lang="en-US" sz="1000" dirty="0"/>
          </a:p>
        </p:txBody>
      </p:sp>
      <p:sp>
        <p:nvSpPr>
          <p:cNvPr id="25" name="Text 23"/>
          <p:cNvSpPr/>
          <p:nvPr>
            <p:custDataLst>
              <p:tags r:id="rId8"/>
            </p:custDataLst>
          </p:nvPr>
        </p:nvSpPr>
        <p:spPr>
          <a:xfrm>
            <a:off x="5532120" y="2359152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"có cái cô cho điểm trừ cũng nương nhẹ"</a:t>
            </a:r>
            <a:endParaRPr lang="en-US" sz="950" dirty="0"/>
          </a:p>
        </p:txBody>
      </p:sp>
      <p:sp>
        <p:nvSpPr>
          <p:cNvPr id="26" name="Shape 24"/>
          <p:cNvSpPr/>
          <p:nvPr>
            <p:custDataLst>
              <p:tags r:id="rId9"/>
            </p:custDataLst>
          </p:nvPr>
        </p:nvSpPr>
        <p:spPr>
          <a:xfrm>
            <a:off x="5394960" y="3072384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>
            <p:custDataLst>
              <p:tags r:id="rId10"/>
            </p:custDataLst>
          </p:nvPr>
        </p:nvSpPr>
        <p:spPr>
          <a:xfrm>
            <a:off x="5532120" y="3108960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TIÊU CỰC</a:t>
            </a:r>
            <a:endParaRPr lang="en-US" sz="1100" dirty="0"/>
          </a:p>
        </p:txBody>
      </p:sp>
      <p:sp>
        <p:nvSpPr>
          <p:cNvPr id="28" name="Text 26"/>
          <p:cNvSpPr/>
          <p:nvPr>
            <p:custDataLst>
              <p:tags r:id="rId11"/>
            </p:custDataLst>
          </p:nvPr>
        </p:nvSpPr>
        <p:spPr>
          <a:xfrm>
            <a:off x="7772400" y="3108960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 cậy: 98.77%</a:t>
            </a:r>
            <a:endParaRPr lang="en-US" sz="1000" dirty="0"/>
          </a:p>
        </p:txBody>
      </p:sp>
      <p:sp>
        <p:nvSpPr>
          <p:cNvPr id="29" name="Text 27"/>
          <p:cNvSpPr/>
          <p:nvPr>
            <p:custDataLst>
              <p:tags r:id="rId12"/>
            </p:custDataLst>
          </p:nvPr>
        </p:nvSpPr>
        <p:spPr>
          <a:xfrm>
            <a:off x="5532120" y="338328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49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"thầy cho ghi bài nhiều quá"</a:t>
            </a:r>
            <a:endParaRPr lang="en-US" sz="950" dirty="0"/>
          </a:p>
        </p:txBody>
      </p:sp>
      <p:grpSp>
        <p:nvGrpSpPr>
          <p:cNvPr id="33" name="Group 32"/>
          <p:cNvGrpSpPr/>
          <p:nvPr/>
        </p:nvGrpSpPr>
        <p:grpSpPr>
          <a:xfrm>
            <a:off x="274320" y="4433957"/>
            <a:ext cx="8595360" cy="475615"/>
            <a:chOff x="360" y="6797"/>
            <a:chExt cx="13680" cy="749"/>
          </a:xfrm>
        </p:grpSpPr>
        <p:sp>
          <p:nvSpPr>
            <p:cNvPr id="34" name="Shape 36"/>
            <p:cNvSpPr/>
            <p:nvPr/>
          </p:nvSpPr>
          <p:spPr>
            <a:xfrm>
              <a:off x="360" y="6797"/>
              <a:ext cx="13680" cy="749"/>
            </a:xfrm>
            <a:prstGeom prst="rect">
              <a:avLst/>
            </a:prstGeom>
            <a:solidFill>
              <a:srgbClr val="EBF5FB"/>
            </a:solidFill>
            <a:ln w="12700">
              <a:solidFill>
                <a:srgbClr val="2980B9"/>
              </a:solidFill>
              <a:prstDash val="solid"/>
            </a:ln>
          </p:spPr>
        </p:sp>
        <p:sp>
          <p:nvSpPr>
            <p:cNvPr id="35" name="Text 37"/>
            <p:cNvSpPr/>
            <p:nvPr/>
          </p:nvSpPr>
          <p:spPr>
            <a:xfrm>
              <a:off x="605" y="6797"/>
              <a:ext cx="13248" cy="749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1A5276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🛠 Tech stack: Python · PyTorch · HuggingFace Transformers · Gradio Blocks  |  Singleton Loading: model.safetensors (1.8× nhanh hơn .bin)  |  Files: src/predict.py + demo/demo.ipynb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64008" cy="50520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pSp>
        <p:nvGrpSpPr>
          <p:cNvPr id="56" name="Group 55"/>
          <p:cNvGrpSpPr/>
          <p:nvPr/>
        </p:nvGrpSpPr>
        <p:grpSpPr>
          <a:xfrm>
            <a:off x="360680" y="994410"/>
            <a:ext cx="8422640" cy="3155315"/>
            <a:chOff x="403" y="950"/>
            <a:chExt cx="13264" cy="4969"/>
          </a:xfrm>
        </p:grpSpPr>
        <p:grpSp>
          <p:nvGrpSpPr>
            <p:cNvPr id="57" name="Group 56"/>
            <p:cNvGrpSpPr/>
            <p:nvPr/>
          </p:nvGrpSpPr>
          <p:grpSpPr>
            <a:xfrm>
              <a:off x="403" y="950"/>
              <a:ext cx="13264" cy="749"/>
              <a:chOff x="403" y="288"/>
              <a:chExt cx="13264" cy="749"/>
            </a:xfrm>
          </p:grpSpPr>
          <p:sp>
            <p:nvSpPr>
              <p:cNvPr id="80" name="Text 2"/>
              <p:cNvSpPr/>
              <p:nvPr/>
            </p:nvSpPr>
            <p:spPr>
              <a:xfrm>
                <a:off x="403" y="288"/>
                <a:ext cx="936" cy="749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600" b="1" dirty="0">
                    <a:solidFill>
                      <a:srgbClr val="32E0C4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07</a:t>
                </a:r>
                <a:endParaRPr lang="en-US" sz="2600" dirty="0"/>
              </a:p>
            </p:txBody>
          </p:sp>
          <p:sp>
            <p:nvSpPr>
              <p:cNvPr id="81" name="Text 3"/>
              <p:cNvSpPr/>
              <p:nvPr/>
            </p:nvSpPr>
            <p:spPr>
              <a:xfrm>
                <a:off x="1427" y="403"/>
                <a:ext cx="12240" cy="547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9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KẾT LUẬN VÀ HƯỚNG PHÁT TRIỂN</a:t>
                </a:r>
                <a:endParaRPr lang="en-US" sz="1900" dirty="0"/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460" y="2074"/>
              <a:ext cx="6336" cy="3845"/>
              <a:chOff x="403" y="1181"/>
              <a:chExt cx="6336" cy="3845"/>
            </a:xfrm>
          </p:grpSpPr>
          <p:sp>
            <p:nvSpPr>
              <p:cNvPr id="59" name="Text 4"/>
              <p:cNvSpPr/>
              <p:nvPr/>
            </p:nvSpPr>
            <p:spPr>
              <a:xfrm>
                <a:off x="403" y="1181"/>
                <a:ext cx="6336" cy="403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100" b="1" kern="0" spc="200" dirty="0">
                    <a:solidFill>
                      <a:srgbClr val="32E0C4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KẾT LUẬN</a:t>
                </a:r>
                <a:endParaRPr lang="en-US" sz="1100" dirty="0"/>
              </a:p>
            </p:txBody>
          </p:sp>
          <p:sp>
            <p:nvSpPr>
              <p:cNvPr id="60" name="Shape 5"/>
              <p:cNvSpPr/>
              <p:nvPr/>
            </p:nvSpPr>
            <p:spPr>
              <a:xfrm>
                <a:off x="403" y="1642"/>
                <a:ext cx="6336" cy="605"/>
              </a:xfrm>
              <a:prstGeom prst="rect">
                <a:avLst/>
              </a:prstGeom>
              <a:solidFill>
                <a:srgbClr val="1E3558"/>
              </a:solidFill>
              <a:ln w="12700">
                <a:solidFill>
                  <a:srgbClr val="1E3558"/>
                </a:solidFill>
                <a:prstDash val="solid"/>
              </a:ln>
            </p:spPr>
          </p:sp>
          <p:sp>
            <p:nvSpPr>
              <p:cNvPr id="61" name="Shape 6"/>
              <p:cNvSpPr/>
              <p:nvPr/>
            </p:nvSpPr>
            <p:spPr>
              <a:xfrm>
                <a:off x="446" y="1742"/>
                <a:ext cx="259" cy="259"/>
              </a:xfrm>
              <a:prstGeom prst="ellipse">
                <a:avLst/>
              </a:prstGeom>
              <a:solidFill>
                <a:srgbClr val="0D7377"/>
              </a:solidFill>
              <a:ln w="12700">
                <a:solidFill>
                  <a:srgbClr val="0D7377"/>
                </a:solidFill>
                <a:prstDash val="solid"/>
              </a:ln>
            </p:spPr>
          </p:sp>
          <p:sp>
            <p:nvSpPr>
              <p:cNvPr id="62" name="Text 7"/>
              <p:cNvSpPr/>
              <p:nvPr/>
            </p:nvSpPr>
            <p:spPr>
              <a:xfrm>
                <a:off x="835" y="1656"/>
                <a:ext cx="2376" cy="605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900" b="1" dirty="0">
                    <a:solidFill>
                      <a:srgbClr val="32E0C4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PhoBERT </a:t>
                </a:r>
                <a:r>
                  <a:rPr lang="vi-VN" sz="900" b="1" dirty="0">
                    <a:solidFill>
                      <a:srgbClr val="32E0C4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đạt hiệu năng tối hậu</a:t>
                </a:r>
                <a:endParaRPr lang="vi-VN" sz="900" b="1" dirty="0">
                  <a:solidFill>
                    <a:srgbClr val="32E0C4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63" name="Text 8"/>
              <p:cNvSpPr/>
              <p:nvPr/>
            </p:nvSpPr>
            <p:spPr>
              <a:xfrm>
                <a:off x="3197" y="1656"/>
                <a:ext cx="3456" cy="605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Macro-F1 = 8</a:t>
                </a:r>
                <a:r>
                  <a:rPr lang="vi-VN" alt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1.23% , cân bằng tốt giữa các lớp</a:t>
                </a:r>
                <a:endParaRPr lang="vi-VN" altLang="en-US" sz="900" dirty="0">
                  <a:solidFill>
                    <a:srgbClr val="E8F0F2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64" name="Shape 9"/>
              <p:cNvSpPr/>
              <p:nvPr/>
            </p:nvSpPr>
            <p:spPr>
              <a:xfrm>
                <a:off x="403" y="2333"/>
                <a:ext cx="6336" cy="605"/>
              </a:xfrm>
              <a:prstGeom prst="rect">
                <a:avLst/>
              </a:prstGeom>
              <a:solidFill>
                <a:srgbClr val="1E3558"/>
              </a:solidFill>
              <a:ln w="12700">
                <a:solidFill>
                  <a:srgbClr val="1E3558"/>
                </a:solidFill>
                <a:prstDash val="solid"/>
              </a:ln>
            </p:spPr>
          </p:sp>
          <p:sp>
            <p:nvSpPr>
              <p:cNvPr id="65" name="Shape 10"/>
              <p:cNvSpPr/>
              <p:nvPr/>
            </p:nvSpPr>
            <p:spPr>
              <a:xfrm>
                <a:off x="446" y="2434"/>
                <a:ext cx="259" cy="259"/>
              </a:xfrm>
              <a:prstGeom prst="ellipse">
                <a:avLst/>
              </a:prstGeom>
              <a:solidFill>
                <a:srgbClr val="0D7377"/>
              </a:solidFill>
              <a:ln w="12700">
                <a:solidFill>
                  <a:srgbClr val="0D7377"/>
                </a:solidFill>
                <a:prstDash val="solid"/>
              </a:ln>
            </p:spPr>
          </p:sp>
          <p:sp>
            <p:nvSpPr>
              <p:cNvPr id="66" name="Text 11"/>
              <p:cNvSpPr/>
              <p:nvPr/>
            </p:nvSpPr>
            <p:spPr>
              <a:xfrm>
                <a:off x="835" y="2347"/>
                <a:ext cx="2376" cy="605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900" b="1" dirty="0">
                    <a:solidFill>
                      <a:srgbClr val="32E0C4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Giải quyết điểm nghẽn nhãn 1: </a:t>
                </a:r>
                <a:endParaRPr lang="en-US" sz="900" dirty="0"/>
              </a:p>
            </p:txBody>
          </p:sp>
          <p:sp>
            <p:nvSpPr>
              <p:cNvPr id="67" name="Text 12"/>
              <p:cNvSpPr/>
              <p:nvPr/>
            </p:nvSpPr>
            <p:spPr>
              <a:xfrm>
                <a:off x="3197" y="2347"/>
                <a:ext cx="3456" cy="605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F1 Trung tính</a:t>
                </a:r>
                <a:r>
                  <a:rPr lang="vi-VN" alt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 đạt 0.5528 , Recall bứt phá mạnh mẽ đạt 65.87%	</a:t>
                </a:r>
                <a:endParaRPr lang="vi-VN" altLang="en-US" sz="900" dirty="0">
                  <a:solidFill>
                    <a:srgbClr val="E8F0F2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68" name="Shape 13"/>
              <p:cNvSpPr/>
              <p:nvPr/>
            </p:nvSpPr>
            <p:spPr>
              <a:xfrm>
                <a:off x="403" y="3024"/>
                <a:ext cx="6336" cy="605"/>
              </a:xfrm>
              <a:prstGeom prst="rect">
                <a:avLst/>
              </a:prstGeom>
              <a:solidFill>
                <a:srgbClr val="1E3558"/>
              </a:solidFill>
              <a:ln w="12700">
                <a:solidFill>
                  <a:srgbClr val="1E3558"/>
                </a:solidFill>
                <a:prstDash val="solid"/>
              </a:ln>
            </p:spPr>
          </p:sp>
          <p:sp>
            <p:nvSpPr>
              <p:cNvPr id="69" name="Shape 14"/>
              <p:cNvSpPr/>
              <p:nvPr/>
            </p:nvSpPr>
            <p:spPr>
              <a:xfrm>
                <a:off x="446" y="3125"/>
                <a:ext cx="259" cy="259"/>
              </a:xfrm>
              <a:prstGeom prst="ellipse">
                <a:avLst/>
              </a:prstGeom>
              <a:solidFill>
                <a:srgbClr val="0D7377"/>
              </a:solidFill>
              <a:ln w="12700">
                <a:solidFill>
                  <a:srgbClr val="0D7377"/>
                </a:solidFill>
                <a:prstDash val="solid"/>
              </a:ln>
            </p:spPr>
          </p:sp>
          <p:sp>
            <p:nvSpPr>
              <p:cNvPr id="70" name="Text 15"/>
              <p:cNvSpPr/>
              <p:nvPr/>
            </p:nvSpPr>
            <p:spPr>
              <a:xfrm>
                <a:off x="835" y="3038"/>
                <a:ext cx="2376" cy="605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900" b="1" dirty="0">
                    <a:solidFill>
                      <a:srgbClr val="32E0C4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Tính thực tế đã kiểm chứng: </a:t>
                </a:r>
                <a:endParaRPr lang="en-US" sz="900" dirty="0"/>
              </a:p>
            </p:txBody>
          </p:sp>
          <p:sp>
            <p:nvSpPr>
              <p:cNvPr id="71" name="Text 16"/>
              <p:cNvSpPr/>
              <p:nvPr/>
            </p:nvSpPr>
            <p:spPr>
              <a:xfrm>
                <a:off x="3197" y="3038"/>
                <a:ext cx="3456" cy="605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Accuracy 93%, inference </a:t>
                </a:r>
                <a:r>
                  <a:rPr lang="vi-VN" alt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ổn định, đóng gói hoàn chỉnh</a:t>
                </a:r>
                <a:endParaRPr lang="vi-VN" altLang="en-US" sz="900" dirty="0">
                  <a:solidFill>
                    <a:srgbClr val="E8F0F2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72" name="Shape 17"/>
              <p:cNvSpPr/>
              <p:nvPr/>
            </p:nvSpPr>
            <p:spPr>
              <a:xfrm>
                <a:off x="403" y="3715"/>
                <a:ext cx="6336" cy="605"/>
              </a:xfrm>
              <a:prstGeom prst="rect">
                <a:avLst/>
              </a:prstGeom>
              <a:solidFill>
                <a:srgbClr val="1E3558"/>
              </a:solidFill>
              <a:ln w="12700">
                <a:solidFill>
                  <a:srgbClr val="1E3558"/>
                </a:solidFill>
                <a:prstDash val="solid"/>
              </a:ln>
            </p:spPr>
          </p:sp>
          <p:sp>
            <p:nvSpPr>
              <p:cNvPr id="73" name="Shape 18"/>
              <p:cNvSpPr/>
              <p:nvPr/>
            </p:nvSpPr>
            <p:spPr>
              <a:xfrm>
                <a:off x="446" y="3816"/>
                <a:ext cx="259" cy="259"/>
              </a:xfrm>
              <a:prstGeom prst="ellipse">
                <a:avLst/>
              </a:prstGeom>
              <a:solidFill>
                <a:srgbClr val="0D7377"/>
              </a:solidFill>
              <a:ln w="12700">
                <a:solidFill>
                  <a:srgbClr val="0D7377"/>
                </a:solidFill>
                <a:prstDash val="solid"/>
              </a:ln>
            </p:spPr>
          </p:sp>
          <p:sp>
            <p:nvSpPr>
              <p:cNvPr id="74" name="Text 19"/>
              <p:cNvSpPr/>
              <p:nvPr/>
            </p:nvSpPr>
            <p:spPr>
              <a:xfrm>
                <a:off x="835" y="3730"/>
                <a:ext cx="2376" cy="605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900" b="1" dirty="0">
                    <a:solidFill>
                      <a:srgbClr val="32E0C4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Bài học kỹ thuật: </a:t>
                </a:r>
                <a:endParaRPr lang="en-US" sz="900" dirty="0"/>
              </a:p>
            </p:txBody>
          </p:sp>
          <p:sp>
            <p:nvSpPr>
              <p:cNvPr id="75" name="Text 20"/>
              <p:cNvSpPr/>
              <p:nvPr/>
            </p:nvSpPr>
            <p:spPr>
              <a:xfrm>
                <a:off x="3197" y="3730"/>
                <a:ext cx="3456" cy="605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vi-VN" alt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Transformer(Sefl-Attention) là lõi công nghẹ vượt trội so với </a:t>
                </a:r>
                <a:r>
                  <a:rPr 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TF-IDF </a:t>
                </a:r>
                <a:endParaRPr lang="en-US" sz="900" dirty="0"/>
              </a:p>
            </p:txBody>
          </p:sp>
          <p:sp>
            <p:nvSpPr>
              <p:cNvPr id="76" name="Shape 21"/>
              <p:cNvSpPr/>
              <p:nvPr/>
            </p:nvSpPr>
            <p:spPr>
              <a:xfrm>
                <a:off x="403" y="4406"/>
                <a:ext cx="6336" cy="605"/>
              </a:xfrm>
              <a:prstGeom prst="rect">
                <a:avLst/>
              </a:prstGeom>
              <a:solidFill>
                <a:srgbClr val="1E3558"/>
              </a:solidFill>
              <a:ln w="12700">
                <a:solidFill>
                  <a:srgbClr val="1E3558"/>
                </a:solidFill>
                <a:prstDash val="solid"/>
              </a:ln>
            </p:spPr>
          </p:sp>
          <p:sp>
            <p:nvSpPr>
              <p:cNvPr id="77" name="Shape 22"/>
              <p:cNvSpPr/>
              <p:nvPr/>
            </p:nvSpPr>
            <p:spPr>
              <a:xfrm>
                <a:off x="446" y="4507"/>
                <a:ext cx="259" cy="259"/>
              </a:xfrm>
              <a:prstGeom prst="ellipse">
                <a:avLst/>
              </a:prstGeom>
              <a:solidFill>
                <a:srgbClr val="0D7377"/>
              </a:solidFill>
              <a:ln w="12700">
                <a:solidFill>
                  <a:srgbClr val="0D7377"/>
                </a:solidFill>
                <a:prstDash val="solid"/>
              </a:ln>
            </p:spPr>
          </p:sp>
          <p:sp>
            <p:nvSpPr>
              <p:cNvPr id="78" name="Text 23"/>
              <p:cNvSpPr/>
              <p:nvPr/>
            </p:nvSpPr>
            <p:spPr>
              <a:xfrm>
                <a:off x="835" y="4421"/>
                <a:ext cx="2376" cy="605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900" b="1" dirty="0">
                    <a:solidFill>
                      <a:srgbClr val="32E0C4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Metric chính xác: </a:t>
                </a:r>
                <a:endParaRPr lang="en-US" sz="900" dirty="0"/>
              </a:p>
            </p:txBody>
          </p:sp>
          <p:sp>
            <p:nvSpPr>
              <p:cNvPr id="79" name="Text 24"/>
              <p:cNvSpPr/>
              <p:nvPr/>
            </p:nvSpPr>
            <p:spPr>
              <a:xfrm>
                <a:off x="3197" y="4421"/>
                <a:ext cx="3456" cy="605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Macro-F1 là lựa chọn </a:t>
                </a:r>
                <a:r>
                  <a:rPr lang="vi-VN" alt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chuẩn mực</a:t>
                </a:r>
                <a:r>
                  <a:rPr lang="en-US" sz="900" dirty="0">
                    <a:solidFill>
                      <a:srgbClr val="E8F0F2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 cho dữ liệu mất cân bằng nghiêm trọng</a:t>
                </a:r>
                <a:endParaRPr lang="en-US" sz="900" dirty="0"/>
              </a:p>
            </p:txBody>
          </p:sp>
        </p:grpSp>
      </p:grpSp>
      <p:grpSp>
        <p:nvGrpSpPr>
          <p:cNvPr id="82" name="Group 81"/>
          <p:cNvGrpSpPr/>
          <p:nvPr/>
        </p:nvGrpSpPr>
        <p:grpSpPr>
          <a:xfrm>
            <a:off x="4694555" y="1708150"/>
            <a:ext cx="4206240" cy="1993388"/>
            <a:chOff x="7344" y="1181"/>
            <a:chExt cx="6624" cy="3139"/>
          </a:xfrm>
        </p:grpSpPr>
        <p:sp>
          <p:nvSpPr>
            <p:cNvPr id="83" name="Text 25"/>
            <p:cNvSpPr/>
            <p:nvPr/>
          </p:nvSpPr>
          <p:spPr>
            <a:xfrm>
              <a:off x="7344" y="1181"/>
              <a:ext cx="6624" cy="403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b="1" kern="0" spc="200" dirty="0">
                  <a:solidFill>
                    <a:srgbClr val="F0A5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HƯỚNG PHÁT TRIỂN</a:t>
              </a:r>
              <a:endParaRPr lang="en-US" sz="1100" dirty="0"/>
            </a:p>
          </p:txBody>
        </p:sp>
        <p:sp>
          <p:nvSpPr>
            <p:cNvPr id="84" name="Shape 26"/>
            <p:cNvSpPr/>
            <p:nvPr/>
          </p:nvSpPr>
          <p:spPr>
            <a:xfrm>
              <a:off x="7344" y="1642"/>
              <a:ext cx="6624" cy="605"/>
            </a:xfrm>
            <a:prstGeom prst="rect">
              <a:avLst/>
            </a:prstGeom>
            <a:solidFill>
              <a:srgbClr val="1E2A3C"/>
            </a:solidFill>
            <a:ln w="6350">
              <a:solidFill>
                <a:srgbClr val="F0A500"/>
              </a:solidFill>
              <a:prstDash val="solid"/>
            </a:ln>
          </p:spPr>
        </p:sp>
        <p:sp>
          <p:nvSpPr>
            <p:cNvPr id="85" name="Text 27"/>
            <p:cNvSpPr/>
            <p:nvPr/>
          </p:nvSpPr>
          <p:spPr>
            <a:xfrm>
              <a:off x="7387" y="1642"/>
              <a:ext cx="432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/>
                <a:t>📝</a:t>
              </a:r>
              <a:endParaRPr lang="en-US" sz="1200" dirty="0"/>
            </a:p>
          </p:txBody>
        </p:sp>
        <p:sp>
          <p:nvSpPr>
            <p:cNvPr id="86" name="Text 28"/>
            <p:cNvSpPr/>
            <p:nvPr/>
          </p:nvSpPr>
          <p:spPr>
            <a:xfrm>
              <a:off x="7891" y="1642"/>
              <a:ext cx="2160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vi-VN" altLang="en-US" sz="950" b="1" dirty="0">
                  <a:solidFill>
                    <a:srgbClr val="F0A5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Phân tích khía cạnh ABSA</a:t>
              </a:r>
              <a:r>
                <a:rPr lang="en-US" sz="950" b="1" dirty="0">
                  <a:solidFill>
                    <a:srgbClr val="F0A5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 </a:t>
              </a:r>
              <a:r>
                <a:rPr lang="vi-VN" altLang="en-US" sz="950" b="1" dirty="0">
                  <a:solidFill>
                    <a:srgbClr val="F0A5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:</a:t>
              </a:r>
              <a:endParaRPr lang="vi-VN" altLang="en-US" sz="95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87" name="Text 29"/>
            <p:cNvSpPr/>
            <p:nvPr/>
          </p:nvSpPr>
          <p:spPr>
            <a:xfrm>
              <a:off x="10022" y="1642"/>
              <a:ext cx="3816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vi-VN" altLang="en-US" sz="900" dirty="0">
                  <a:solidFill>
                    <a:srgbClr val="E8F0F2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Chuyển dịch từ phân tích nhãn tổng thể sang phân tích từng thực thể</a:t>
              </a:r>
              <a:endParaRPr lang="vi-VN" altLang="en-US" sz="900" dirty="0">
                <a:solidFill>
                  <a:srgbClr val="E8F0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88" name="Shape 30"/>
            <p:cNvSpPr/>
            <p:nvPr/>
          </p:nvSpPr>
          <p:spPr>
            <a:xfrm>
              <a:off x="7344" y="2333"/>
              <a:ext cx="6624" cy="605"/>
            </a:xfrm>
            <a:prstGeom prst="rect">
              <a:avLst/>
            </a:prstGeom>
            <a:solidFill>
              <a:srgbClr val="1E2A3C"/>
            </a:solidFill>
            <a:ln w="6350">
              <a:solidFill>
                <a:srgbClr val="F0A500"/>
              </a:solidFill>
              <a:prstDash val="solid"/>
            </a:ln>
          </p:spPr>
        </p:sp>
        <p:sp>
          <p:nvSpPr>
            <p:cNvPr id="90" name="Text 32"/>
            <p:cNvSpPr/>
            <p:nvPr/>
          </p:nvSpPr>
          <p:spPr>
            <a:xfrm>
              <a:off x="7891" y="2333"/>
              <a:ext cx="2160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vi-VN" altLang="en-US" sz="950" b="1" dirty="0">
                  <a:solidFill>
                    <a:srgbClr val="F0A5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Mở rộng kho từ điển </a:t>
              </a:r>
              <a:r>
                <a:rPr lang="en-US" sz="950" b="1" dirty="0">
                  <a:solidFill>
                    <a:srgbClr val="F0A5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: </a:t>
              </a:r>
              <a:endParaRPr lang="en-US" sz="950" dirty="0"/>
            </a:p>
          </p:txBody>
        </p:sp>
        <p:sp>
          <p:nvSpPr>
            <p:cNvPr id="91" name="Text 33"/>
            <p:cNvSpPr/>
            <p:nvPr/>
          </p:nvSpPr>
          <p:spPr>
            <a:xfrm>
              <a:off x="10022" y="2333"/>
              <a:ext cx="3816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vi-VN" altLang="en-US" sz="900" dirty="0">
                  <a:solidFill>
                    <a:srgbClr val="E8F0F2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Cập nhật teencode để giảm tỷ lệ Unknow tokens</a:t>
              </a:r>
              <a:endParaRPr lang="vi-VN" altLang="en-US" sz="900" dirty="0">
                <a:solidFill>
                  <a:srgbClr val="E8F0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92" name="Shape 34"/>
            <p:cNvSpPr/>
            <p:nvPr/>
          </p:nvSpPr>
          <p:spPr>
            <a:xfrm>
              <a:off x="7344" y="3024"/>
              <a:ext cx="6624" cy="605"/>
            </a:xfrm>
            <a:prstGeom prst="rect">
              <a:avLst/>
            </a:prstGeom>
            <a:solidFill>
              <a:srgbClr val="1E2A3C"/>
            </a:solidFill>
            <a:ln w="6350">
              <a:solidFill>
                <a:srgbClr val="F0A500"/>
              </a:solidFill>
              <a:prstDash val="solid"/>
            </a:ln>
          </p:spPr>
        </p:sp>
        <p:sp>
          <p:nvSpPr>
            <p:cNvPr id="93" name="Text 35"/>
            <p:cNvSpPr/>
            <p:nvPr/>
          </p:nvSpPr>
          <p:spPr>
            <a:xfrm>
              <a:off x="7387" y="3024"/>
              <a:ext cx="432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🌐</a:t>
              </a:r>
              <a:endParaRPr lang="en-US" sz="1200" dirty="0"/>
            </a:p>
          </p:txBody>
        </p:sp>
        <p:sp>
          <p:nvSpPr>
            <p:cNvPr id="94" name="Text 36"/>
            <p:cNvSpPr/>
            <p:nvPr/>
          </p:nvSpPr>
          <p:spPr>
            <a:xfrm>
              <a:off x="7891" y="3024"/>
              <a:ext cx="2160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vi-VN" altLang="en-US" sz="950" b="1" dirty="0">
                  <a:solidFill>
                    <a:srgbClr val="F0A5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Nâng cấp tiền xử lý </a:t>
              </a:r>
              <a:r>
                <a:rPr lang="en-US" sz="950" b="1" dirty="0">
                  <a:solidFill>
                    <a:srgbClr val="F0A5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: </a:t>
              </a:r>
              <a:endParaRPr lang="en-US" sz="950" dirty="0"/>
            </a:p>
          </p:txBody>
        </p:sp>
        <p:sp>
          <p:nvSpPr>
            <p:cNvPr id="95" name="Text 37"/>
            <p:cNvSpPr/>
            <p:nvPr/>
          </p:nvSpPr>
          <p:spPr>
            <a:xfrm>
              <a:off x="10022" y="3024"/>
              <a:ext cx="3816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vi-VN" altLang="en-US" sz="900" dirty="0">
                  <a:solidFill>
                    <a:srgbClr val="E8F0F2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Tối ưu hóa hàm clean_text</a:t>
              </a:r>
              <a:endParaRPr lang="vi-VN" altLang="en-US" sz="900" dirty="0">
                <a:solidFill>
                  <a:srgbClr val="E8F0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96" name="Text 39"/>
            <p:cNvSpPr/>
            <p:nvPr/>
          </p:nvSpPr>
          <p:spPr>
            <a:xfrm>
              <a:off x="7387" y="3715"/>
              <a:ext cx="432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97" name="Shape 42"/>
            <p:cNvSpPr/>
            <p:nvPr/>
          </p:nvSpPr>
          <p:spPr>
            <a:xfrm>
              <a:off x="7344" y="3700"/>
              <a:ext cx="6624" cy="605"/>
            </a:xfrm>
            <a:prstGeom prst="rect">
              <a:avLst/>
            </a:prstGeom>
            <a:solidFill>
              <a:srgbClr val="1E2A3C"/>
            </a:solidFill>
            <a:ln w="6350">
              <a:solidFill>
                <a:srgbClr val="F0A500"/>
              </a:solidFill>
              <a:prstDash val="solid"/>
            </a:ln>
          </p:spPr>
        </p:sp>
        <p:sp>
          <p:nvSpPr>
            <p:cNvPr id="98" name="Text 44"/>
            <p:cNvSpPr/>
            <p:nvPr/>
          </p:nvSpPr>
          <p:spPr>
            <a:xfrm>
              <a:off x="7891" y="3700"/>
              <a:ext cx="2160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vi-VN" altLang="en-US" sz="950" b="1" dirty="0">
                  <a:solidFill>
                    <a:srgbClr val="F0A5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Tối ưu pipeline </a:t>
              </a:r>
              <a:r>
                <a:rPr lang="en-US" sz="950" b="1" dirty="0">
                  <a:solidFill>
                    <a:srgbClr val="F0A50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: </a:t>
              </a:r>
              <a:endParaRPr lang="en-US" sz="950" dirty="0"/>
            </a:p>
          </p:txBody>
        </p:sp>
        <p:sp>
          <p:nvSpPr>
            <p:cNvPr id="99" name="Text 45"/>
            <p:cNvSpPr/>
            <p:nvPr/>
          </p:nvSpPr>
          <p:spPr>
            <a:xfrm>
              <a:off x="10022" y="3700"/>
              <a:ext cx="3816" cy="605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vi-VN" altLang="en-US" sz="900" dirty="0">
                  <a:solidFill>
                    <a:srgbClr val="E8F0F2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Cải tiến hạ tầng để giảm chi phí huấn luyện</a:t>
              </a:r>
              <a:endParaRPr lang="vi-VN" altLang="en-US" sz="900" dirty="0">
                <a:solidFill>
                  <a:srgbClr val="E8F0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101" name="Text 31"/>
          <p:cNvSpPr/>
          <p:nvPr/>
        </p:nvSpPr>
        <p:spPr>
          <a:xfrm>
            <a:off x="4731068" y="3294795"/>
            <a:ext cx="274320" cy="384199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</a:t>
            </a:r>
            <a:endParaRPr lang="en-US" sz="1200" dirty="0"/>
          </a:p>
        </p:txBody>
      </p:sp>
      <p:sp>
        <p:nvSpPr>
          <p:cNvPr id="104" name="Text 27"/>
          <p:cNvSpPr/>
          <p:nvPr/>
        </p:nvSpPr>
        <p:spPr>
          <a:xfrm>
            <a:off x="4737100" y="2426887"/>
            <a:ext cx="274320" cy="384199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5" name="Text 27"/>
          <p:cNvSpPr/>
          <p:nvPr/>
        </p:nvSpPr>
        <p:spPr>
          <a:xfrm>
            <a:off x="4731068" y="2454193"/>
            <a:ext cx="274320" cy="384199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/>
              <a:t>🛡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2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3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4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5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6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7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8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9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10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11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ags/tag12.xml><?xml version="1.0" encoding="utf-8"?>
<p:tagLst xmlns:p="http://schemas.openxmlformats.org/presentationml/2006/main">
  <p:tag name="KSO_WM_DIAGRAM_VIRTUALLY_FRAME" val="{&quot;height&quot;:233.27999999999997,&quot;left&quot;:424.8,&quot;top&quot;:80.64,&quot;width&quot;:273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5882</Words>
  <Application>WPS Presentation</Application>
  <PresentationFormat>On-screen Show (16:9)</PresentationFormat>
  <Paragraphs>528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cảm xúc phản hồi sinh viên tiếng Việt</dc:title>
  <dc:creator>PptxGenJS</dc:creator>
  <dc:subject>PptxGenJS Presentation</dc:subject>
  <cp:lastModifiedBy>Thành Tài</cp:lastModifiedBy>
  <cp:revision>14</cp:revision>
  <dcterms:created xsi:type="dcterms:W3CDTF">2026-06-06T06:48:00Z</dcterms:created>
  <dcterms:modified xsi:type="dcterms:W3CDTF">2026-06-06T14:06:57Z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99EBE5A0B4114D4BAE82F7E87DB31BF0_12</vt:lpwstr>
  </property>
  <property fmtid="{D5CDD505-2E9C-101B-9397-08002B2CF9AE}" pid="3" name="KSOProductBuildVer">
    <vt:lpwstr>2057-12.2.0.23202</vt:lpwstr>
  </property>
</Properties>
</file>